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Bold" charset="1" panose="000008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9375" y="8515642"/>
            <a:ext cx="17690400" cy="426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6275453" y="-5313442"/>
            <a:ext cx="0" cy="171208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668905" y="538895"/>
            <a:ext cx="1251197" cy="1251197"/>
          </a:xfrm>
          <a:custGeom>
            <a:avLst/>
            <a:gdLst/>
            <a:ahLst/>
            <a:cxnLst/>
            <a:rect r="r" b="b" t="t" l="l"/>
            <a:pathLst>
              <a:path h="1251197" w="1251197">
                <a:moveTo>
                  <a:pt x="0" y="0"/>
                </a:moveTo>
                <a:lnTo>
                  <a:pt x="1251197" y="0"/>
                </a:lnTo>
                <a:lnTo>
                  <a:pt x="1251197" y="1251197"/>
                </a:lnTo>
                <a:lnTo>
                  <a:pt x="0" y="1251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7053" y="4921104"/>
            <a:ext cx="5216125" cy="6154720"/>
          </a:xfrm>
          <a:custGeom>
            <a:avLst/>
            <a:gdLst/>
            <a:ahLst/>
            <a:cxnLst/>
            <a:rect r="r" b="b" t="t" l="l"/>
            <a:pathLst>
              <a:path h="6154720" w="5216125">
                <a:moveTo>
                  <a:pt x="0" y="0"/>
                </a:moveTo>
                <a:lnTo>
                  <a:pt x="5216126" y="0"/>
                </a:lnTo>
                <a:lnTo>
                  <a:pt x="5216126" y="6154720"/>
                </a:lnTo>
                <a:lnTo>
                  <a:pt x="0" y="6154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78206" y="3135056"/>
            <a:ext cx="9348551" cy="94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b="true" sz="6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IPO ANALYSIS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526758" y="2204909"/>
            <a:ext cx="1464374" cy="1352549"/>
          </a:xfrm>
          <a:custGeom>
            <a:avLst/>
            <a:gdLst/>
            <a:ahLst/>
            <a:cxnLst/>
            <a:rect r="r" b="b" t="t" l="l"/>
            <a:pathLst>
              <a:path h="1352549" w="1464374">
                <a:moveTo>
                  <a:pt x="0" y="0"/>
                </a:moveTo>
                <a:lnTo>
                  <a:pt x="1464374" y="0"/>
                </a:lnTo>
                <a:lnTo>
                  <a:pt x="1464374" y="1352549"/>
                </a:lnTo>
                <a:lnTo>
                  <a:pt x="0" y="13525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91132" y="4628990"/>
            <a:ext cx="4228689" cy="6738947"/>
          </a:xfrm>
          <a:custGeom>
            <a:avLst/>
            <a:gdLst/>
            <a:ahLst/>
            <a:cxnLst/>
            <a:rect r="r" b="b" t="t" l="l"/>
            <a:pathLst>
              <a:path h="6738947" w="4228689">
                <a:moveTo>
                  <a:pt x="0" y="0"/>
                </a:moveTo>
                <a:lnTo>
                  <a:pt x="4228689" y="0"/>
                </a:lnTo>
                <a:lnTo>
                  <a:pt x="4228689" y="6738947"/>
                </a:lnTo>
                <a:lnTo>
                  <a:pt x="0" y="67389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27834" y="-867796"/>
            <a:ext cx="2963187" cy="2657889"/>
          </a:xfrm>
          <a:custGeom>
            <a:avLst/>
            <a:gdLst/>
            <a:ahLst/>
            <a:cxnLst/>
            <a:rect r="r" b="b" t="t" l="l"/>
            <a:pathLst>
              <a:path h="2657889" w="2963187">
                <a:moveTo>
                  <a:pt x="0" y="0"/>
                </a:moveTo>
                <a:lnTo>
                  <a:pt x="2963186" y="0"/>
                </a:lnTo>
                <a:lnTo>
                  <a:pt x="2963186" y="2657888"/>
                </a:lnTo>
                <a:lnTo>
                  <a:pt x="0" y="26578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92596" y="8577377"/>
            <a:ext cx="3534196" cy="3170067"/>
          </a:xfrm>
          <a:custGeom>
            <a:avLst/>
            <a:gdLst/>
            <a:ahLst/>
            <a:cxnLst/>
            <a:rect r="r" b="b" t="t" l="l"/>
            <a:pathLst>
              <a:path h="3170067" w="3534196">
                <a:moveTo>
                  <a:pt x="0" y="0"/>
                </a:moveTo>
                <a:lnTo>
                  <a:pt x="3534196" y="0"/>
                </a:lnTo>
                <a:lnTo>
                  <a:pt x="3534196" y="3170067"/>
                </a:lnTo>
                <a:lnTo>
                  <a:pt x="0" y="3170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2429" y="6008705"/>
            <a:ext cx="2686038" cy="4545603"/>
          </a:xfrm>
          <a:custGeom>
            <a:avLst/>
            <a:gdLst/>
            <a:ahLst/>
            <a:cxnLst/>
            <a:rect r="r" b="b" t="t" l="l"/>
            <a:pathLst>
              <a:path h="4545603" w="2686038">
                <a:moveTo>
                  <a:pt x="0" y="0"/>
                </a:moveTo>
                <a:lnTo>
                  <a:pt x="2686038" y="0"/>
                </a:lnTo>
                <a:lnTo>
                  <a:pt x="2686038" y="4545603"/>
                </a:lnTo>
                <a:lnTo>
                  <a:pt x="0" y="45456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53848" y="5962319"/>
            <a:ext cx="36483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Sanjana  Stephen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80858" y="4429931"/>
            <a:ext cx="117102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National Stock Exchange (NSE India)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44518" y="885573"/>
            <a:ext cx="3657600" cy="1435608"/>
          </a:xfrm>
          <a:custGeom>
            <a:avLst/>
            <a:gdLst/>
            <a:ahLst/>
            <a:cxnLst/>
            <a:rect r="r" b="b" t="t" l="l"/>
            <a:pathLst>
              <a:path h="1435608" w="3657600">
                <a:moveTo>
                  <a:pt x="0" y="0"/>
                </a:moveTo>
                <a:lnTo>
                  <a:pt x="3657600" y="0"/>
                </a:lnTo>
                <a:lnTo>
                  <a:pt x="3657600" y="1435608"/>
                </a:lnTo>
                <a:lnTo>
                  <a:pt x="0" y="143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209715" y="-57347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4114800"/>
                </a:moveTo>
                <a:lnTo>
                  <a:pt x="5863056" y="4114800"/>
                </a:lnTo>
                <a:lnTo>
                  <a:pt x="586305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327772" y="6702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0"/>
                </a:moveTo>
                <a:lnTo>
                  <a:pt x="0" y="0"/>
                </a:lnTo>
                <a:lnTo>
                  <a:pt x="0" y="4114800"/>
                </a:lnTo>
                <a:lnTo>
                  <a:pt x="5863056" y="4114800"/>
                </a:lnTo>
                <a:lnTo>
                  <a:pt x="58630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4225" y="5996571"/>
            <a:ext cx="2686038" cy="4545603"/>
          </a:xfrm>
          <a:custGeom>
            <a:avLst/>
            <a:gdLst/>
            <a:ahLst/>
            <a:cxnLst/>
            <a:rect r="r" b="b" t="t" l="l"/>
            <a:pathLst>
              <a:path h="4545603" w="2686038">
                <a:moveTo>
                  <a:pt x="0" y="0"/>
                </a:moveTo>
                <a:lnTo>
                  <a:pt x="2686038" y="0"/>
                </a:lnTo>
                <a:lnTo>
                  <a:pt x="2686038" y="4545603"/>
                </a:lnTo>
                <a:lnTo>
                  <a:pt x="0" y="4545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2699" y="751969"/>
            <a:ext cx="15959587" cy="85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5"/>
              </a:lnSpc>
            </a:pPr>
            <a:r>
              <a:rPr lang="en-US" b="true" sz="6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INVESTMENT THESIS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742" y="2254506"/>
            <a:ext cx="13625777" cy="627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NSE is India’s largest stock exchange and a global leader in derivatives trading</a:t>
            </a:r>
          </a:p>
          <a:p>
            <a:pPr algn="ctr">
              <a:lnSpc>
                <a:spcPts val="4620"/>
              </a:lnSpc>
            </a:pP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Dominant, near monopoly like position in the F&amp;O segment</a:t>
            </a:r>
          </a:p>
          <a:p>
            <a:pPr algn="ctr">
              <a:lnSpc>
                <a:spcPts val="4620"/>
              </a:lnSpc>
            </a:pP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Highly profitable, asset light model with strong operating leverage</a:t>
            </a:r>
          </a:p>
          <a:p>
            <a:pPr algn="ctr">
              <a:lnSpc>
                <a:spcPts val="4620"/>
              </a:lnSpc>
            </a:pP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IPO provides liquidity and price discovery for long-term investors</a:t>
            </a:r>
          </a:p>
          <a:p>
            <a:pPr algn="ctr">
              <a:lnSpc>
                <a:spcPts val="37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30032" y="8595361"/>
            <a:ext cx="12397740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b="true" sz="3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</a:t>
            </a:r>
            <a:r>
              <a:rPr lang="en-US" b="true" sz="3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attract strong institutional demand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34042" y="8463432"/>
            <a:ext cx="17690400" cy="426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2147049" y="-5105346"/>
            <a:ext cx="0" cy="171208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19817" y="2915343"/>
            <a:ext cx="11125571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Rapid growth in</a:t>
            </a:r>
            <a:r>
              <a:rPr lang="en-US" sz="3000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Indian capital markets driven by retail participation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Structural shift toward electronic and derivatives trading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India is among the fastest growing equity markets globally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Strong regulatory ecosystem under SEBI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2986" y="354637"/>
            <a:ext cx="1386226" cy="1386226"/>
          </a:xfrm>
          <a:custGeom>
            <a:avLst/>
            <a:gdLst/>
            <a:ahLst/>
            <a:cxnLst/>
            <a:rect r="r" b="b" t="t" l="l"/>
            <a:pathLst>
              <a:path h="1386226" w="1386226">
                <a:moveTo>
                  <a:pt x="0" y="0"/>
                </a:moveTo>
                <a:lnTo>
                  <a:pt x="1386226" y="0"/>
                </a:lnTo>
                <a:lnTo>
                  <a:pt x="1386226" y="1386226"/>
                </a:lnTo>
                <a:lnTo>
                  <a:pt x="0" y="138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6386982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5700605" y="0"/>
                </a:moveTo>
                <a:lnTo>
                  <a:pt x="0" y="0"/>
                </a:lnTo>
                <a:lnTo>
                  <a:pt x="0" y="4114800"/>
                </a:lnTo>
                <a:lnTo>
                  <a:pt x="5700605" y="4114800"/>
                </a:lnTo>
                <a:lnTo>
                  <a:pt x="57006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88951" y="629086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396424" y="6150033"/>
            <a:ext cx="5246968" cy="5246370"/>
            <a:chOff x="0" y="0"/>
            <a:chExt cx="6350013" cy="634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629000" y="1717677"/>
            <a:ext cx="15343756" cy="106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5"/>
              </a:lnSpc>
            </a:pPr>
            <a:r>
              <a:rPr lang="en-US" b="true" sz="772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INDUSTRY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21754">
            <a:off x="-1341998" y="6095596"/>
            <a:ext cx="4127153" cy="4892099"/>
          </a:xfrm>
          <a:custGeom>
            <a:avLst/>
            <a:gdLst/>
            <a:ahLst/>
            <a:cxnLst/>
            <a:rect r="r" b="b" t="t" l="l"/>
            <a:pathLst>
              <a:path h="4892099" w="4127153">
                <a:moveTo>
                  <a:pt x="0" y="0"/>
                </a:moveTo>
                <a:lnTo>
                  <a:pt x="4127153" y="0"/>
                </a:lnTo>
                <a:lnTo>
                  <a:pt x="4127153" y="4892100"/>
                </a:lnTo>
                <a:lnTo>
                  <a:pt x="0" y="489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94688">
            <a:off x="16694244" y="-454257"/>
            <a:ext cx="2334214" cy="4114800"/>
          </a:xfrm>
          <a:custGeom>
            <a:avLst/>
            <a:gdLst/>
            <a:ahLst/>
            <a:cxnLst/>
            <a:rect r="r" b="b" t="t" l="l"/>
            <a:pathLst>
              <a:path h="4114800" w="2334214">
                <a:moveTo>
                  <a:pt x="0" y="0"/>
                </a:moveTo>
                <a:lnTo>
                  <a:pt x="2334214" y="0"/>
                </a:lnTo>
                <a:lnTo>
                  <a:pt x="23342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906" y="-214470"/>
            <a:ext cx="3657600" cy="1882001"/>
          </a:xfrm>
          <a:custGeom>
            <a:avLst/>
            <a:gdLst/>
            <a:ahLst/>
            <a:cxnLst/>
            <a:rect r="r" b="b" t="t" l="l"/>
            <a:pathLst>
              <a:path h="1882001" w="3657600">
                <a:moveTo>
                  <a:pt x="0" y="0"/>
                </a:moveTo>
                <a:lnTo>
                  <a:pt x="3657600" y="0"/>
                </a:lnTo>
                <a:lnTo>
                  <a:pt x="3657600" y="1882001"/>
                </a:lnTo>
                <a:lnTo>
                  <a:pt x="0" y="1882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26135" y="1133475"/>
            <a:ext cx="16904041" cy="10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8"/>
              </a:lnSpc>
            </a:pPr>
            <a:r>
              <a:rPr lang="en-US" b="true" sz="777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COMPANY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30500" y="8541646"/>
            <a:ext cx="3657600" cy="1882001"/>
          </a:xfrm>
          <a:custGeom>
            <a:avLst/>
            <a:gdLst/>
            <a:ahLst/>
            <a:cxnLst/>
            <a:rect r="r" b="b" t="t" l="l"/>
            <a:pathLst>
              <a:path h="1882001" w="3657600">
                <a:moveTo>
                  <a:pt x="0" y="0"/>
                </a:moveTo>
                <a:lnTo>
                  <a:pt x="3657600" y="0"/>
                </a:lnTo>
                <a:lnTo>
                  <a:pt x="3657600" y="1882001"/>
                </a:lnTo>
                <a:lnTo>
                  <a:pt x="0" y="1882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35265" y="4125599"/>
            <a:ext cx="13144500" cy="579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Founded 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1994 — India’s first electronic exchange</a:t>
            </a:r>
          </a:p>
          <a:p>
            <a:pPr algn="ctr">
              <a:lnSpc>
                <a:spcPts val="4620"/>
              </a:lnSpc>
            </a:pP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Among the largest derivatives exchanges globally (by volume)</a:t>
            </a:r>
          </a:p>
          <a:p>
            <a:pPr algn="ctr">
              <a:lnSpc>
                <a:spcPts val="4620"/>
              </a:lnSpc>
            </a:pP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services: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Trading, clearing, settlement, and market data</a:t>
            </a:r>
          </a:p>
          <a:p>
            <a:pPr algn="ctr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mix:</a:t>
            </a: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Transaction fees (~67%)</a:t>
            </a:r>
          </a:p>
          <a:p>
            <a:pPr algn="ctr" marL="712480" indent="-356240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Listing &amp; data services</a:t>
            </a:r>
          </a:p>
          <a:p>
            <a:pPr algn="ctr">
              <a:lnSpc>
                <a:spcPts val="4620"/>
              </a:lnSpc>
            </a:pPr>
          </a:p>
        </p:txBody>
      </p:sp>
      <p:sp>
        <p:nvSpPr>
          <p:cNvPr name="AutoShape 8" id="8"/>
          <p:cNvSpPr/>
          <p:nvPr/>
        </p:nvSpPr>
        <p:spPr>
          <a:xfrm flipV="true">
            <a:off x="4138322" y="2459756"/>
            <a:ext cx="10011356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903384" y="2383556"/>
            <a:ext cx="99085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National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Stock Exchange (NSE)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73699">
            <a:off x="-336577" y="7240557"/>
            <a:ext cx="3730939" cy="4114800"/>
          </a:xfrm>
          <a:custGeom>
            <a:avLst/>
            <a:gdLst/>
            <a:ahLst/>
            <a:cxnLst/>
            <a:rect r="r" b="b" t="t" l="l"/>
            <a:pathLst>
              <a:path h="4114800" w="3730939">
                <a:moveTo>
                  <a:pt x="0" y="0"/>
                </a:moveTo>
                <a:lnTo>
                  <a:pt x="3730939" y="0"/>
                </a:lnTo>
                <a:lnTo>
                  <a:pt x="37309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79549">
            <a:off x="15393830" y="-686312"/>
            <a:ext cx="3730939" cy="4114800"/>
          </a:xfrm>
          <a:custGeom>
            <a:avLst/>
            <a:gdLst/>
            <a:ahLst/>
            <a:cxnLst/>
            <a:rect r="r" b="b" t="t" l="l"/>
            <a:pathLst>
              <a:path h="4114800" w="3730939">
                <a:moveTo>
                  <a:pt x="3730940" y="0"/>
                </a:moveTo>
                <a:lnTo>
                  <a:pt x="0" y="0"/>
                </a:lnTo>
                <a:lnTo>
                  <a:pt x="0" y="4114800"/>
                </a:lnTo>
                <a:lnTo>
                  <a:pt x="3730940" y="4114800"/>
                </a:lnTo>
                <a:lnTo>
                  <a:pt x="37309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4319" y="-494399"/>
            <a:ext cx="2686038" cy="4545603"/>
          </a:xfrm>
          <a:custGeom>
            <a:avLst/>
            <a:gdLst/>
            <a:ahLst/>
            <a:cxnLst/>
            <a:rect r="r" b="b" t="t" l="l"/>
            <a:pathLst>
              <a:path h="4545603" w="2686038">
                <a:moveTo>
                  <a:pt x="0" y="0"/>
                </a:moveTo>
                <a:lnTo>
                  <a:pt x="2686038" y="0"/>
                </a:lnTo>
                <a:lnTo>
                  <a:pt x="2686038" y="4545604"/>
                </a:lnTo>
                <a:lnTo>
                  <a:pt x="0" y="4545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7830990">
            <a:off x="13701788" y="746235"/>
            <a:ext cx="1919728" cy="2428494"/>
          </a:xfrm>
          <a:custGeom>
            <a:avLst/>
            <a:gdLst/>
            <a:ahLst/>
            <a:cxnLst/>
            <a:rect r="r" b="b" t="t" l="l"/>
            <a:pathLst>
              <a:path h="2428494" w="1919728">
                <a:moveTo>
                  <a:pt x="1919728" y="2428494"/>
                </a:moveTo>
                <a:lnTo>
                  <a:pt x="0" y="2428494"/>
                </a:lnTo>
                <a:lnTo>
                  <a:pt x="0" y="0"/>
                </a:lnTo>
                <a:lnTo>
                  <a:pt x="1919728" y="0"/>
                </a:lnTo>
                <a:lnTo>
                  <a:pt x="1919728" y="24284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31040" y="3302820"/>
            <a:ext cx="11830612" cy="6128087"/>
          </a:xfrm>
          <a:custGeom>
            <a:avLst/>
            <a:gdLst/>
            <a:ahLst/>
            <a:cxnLst/>
            <a:rect r="r" b="b" t="t" l="l"/>
            <a:pathLst>
              <a:path h="6128087" w="11830612">
                <a:moveTo>
                  <a:pt x="0" y="0"/>
                </a:moveTo>
                <a:lnTo>
                  <a:pt x="11830612" y="0"/>
                </a:lnTo>
                <a:lnTo>
                  <a:pt x="11830612" y="6128087"/>
                </a:lnTo>
                <a:lnTo>
                  <a:pt x="0" y="612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5248744" y="1639807"/>
            <a:ext cx="2512395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b="true" sz="5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FINANCIAL HIGHLIGHTS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662394" y="-1351049"/>
            <a:ext cx="5216125" cy="6154720"/>
          </a:xfrm>
          <a:custGeom>
            <a:avLst/>
            <a:gdLst/>
            <a:ahLst/>
            <a:cxnLst/>
            <a:rect r="r" b="b" t="t" l="l"/>
            <a:pathLst>
              <a:path h="6154720" w="5216125">
                <a:moveTo>
                  <a:pt x="0" y="6154720"/>
                </a:moveTo>
                <a:lnTo>
                  <a:pt x="5216125" y="6154720"/>
                </a:lnTo>
                <a:lnTo>
                  <a:pt x="5216125" y="0"/>
                </a:lnTo>
                <a:lnTo>
                  <a:pt x="0" y="0"/>
                </a:lnTo>
                <a:lnTo>
                  <a:pt x="0" y="615472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734269" y="6131293"/>
            <a:ext cx="5216125" cy="6154720"/>
          </a:xfrm>
          <a:custGeom>
            <a:avLst/>
            <a:gdLst/>
            <a:ahLst/>
            <a:cxnLst/>
            <a:rect r="r" b="b" t="t" l="l"/>
            <a:pathLst>
              <a:path h="6154720" w="5216125">
                <a:moveTo>
                  <a:pt x="5216125" y="0"/>
                </a:moveTo>
                <a:lnTo>
                  <a:pt x="0" y="0"/>
                </a:lnTo>
                <a:lnTo>
                  <a:pt x="0" y="6154720"/>
                </a:lnTo>
                <a:lnTo>
                  <a:pt x="5216125" y="6154720"/>
                </a:lnTo>
                <a:lnTo>
                  <a:pt x="521612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276798"/>
            <a:ext cx="2887722" cy="4601947"/>
          </a:xfrm>
          <a:custGeom>
            <a:avLst/>
            <a:gdLst/>
            <a:ahLst/>
            <a:cxnLst/>
            <a:rect r="r" b="b" t="t" l="l"/>
            <a:pathLst>
              <a:path h="4601947" w="2887722">
                <a:moveTo>
                  <a:pt x="0" y="0"/>
                </a:moveTo>
                <a:lnTo>
                  <a:pt x="2887722" y="0"/>
                </a:lnTo>
                <a:lnTo>
                  <a:pt x="2887722" y="4601948"/>
                </a:lnTo>
                <a:lnTo>
                  <a:pt x="0" y="4601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062672" y="-1351049"/>
            <a:ext cx="2887722" cy="4601947"/>
          </a:xfrm>
          <a:custGeom>
            <a:avLst/>
            <a:gdLst/>
            <a:ahLst/>
            <a:cxnLst/>
            <a:rect r="r" b="b" t="t" l="l"/>
            <a:pathLst>
              <a:path h="4601947" w="2887722">
                <a:moveTo>
                  <a:pt x="2887722" y="4601947"/>
                </a:moveTo>
                <a:lnTo>
                  <a:pt x="0" y="4601947"/>
                </a:lnTo>
                <a:lnTo>
                  <a:pt x="0" y="0"/>
                </a:lnTo>
                <a:lnTo>
                  <a:pt x="2887722" y="0"/>
                </a:lnTo>
                <a:lnTo>
                  <a:pt x="2887722" y="460194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27132" y="-542822"/>
            <a:ext cx="7315200" cy="1492746"/>
          </a:xfrm>
          <a:custGeom>
            <a:avLst/>
            <a:gdLst/>
            <a:ahLst/>
            <a:cxnLst/>
            <a:rect r="r" b="b" t="t" l="l"/>
            <a:pathLst>
              <a:path h="1492746" w="7315200">
                <a:moveTo>
                  <a:pt x="0" y="0"/>
                </a:moveTo>
                <a:lnTo>
                  <a:pt x="7315200" y="0"/>
                </a:lnTo>
                <a:lnTo>
                  <a:pt x="7315200" y="1492746"/>
                </a:lnTo>
                <a:lnTo>
                  <a:pt x="0" y="1492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87722" y="9540627"/>
            <a:ext cx="7315200" cy="1492746"/>
          </a:xfrm>
          <a:custGeom>
            <a:avLst/>
            <a:gdLst/>
            <a:ahLst/>
            <a:cxnLst/>
            <a:rect r="r" b="b" t="t" l="l"/>
            <a:pathLst>
              <a:path h="1492746" w="7315200">
                <a:moveTo>
                  <a:pt x="0" y="0"/>
                </a:moveTo>
                <a:lnTo>
                  <a:pt x="7315200" y="0"/>
                </a:lnTo>
                <a:lnTo>
                  <a:pt x="7315200" y="1492746"/>
                </a:lnTo>
                <a:lnTo>
                  <a:pt x="0" y="1492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4220170" y="1085850"/>
            <a:ext cx="2512395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b="true" sz="5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98884" y="2015433"/>
            <a:ext cx="8685848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Comparable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Peer: BSE Ltd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BSE P/E: ~50–60x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NSE Implied P/E: ~35–40x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Implied Valuation: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₹4.5 – ₹5.8 Lakh Cr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Assumptions: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Sustainable profit growth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Premium for market leadership + scale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High-margin, capital-light structure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6194"/>
            <a:ext cx="16230600" cy="9474613"/>
          </a:xfrm>
          <a:custGeom>
            <a:avLst/>
            <a:gdLst/>
            <a:ahLst/>
            <a:cxnLst/>
            <a:rect r="r" b="b" t="t" l="l"/>
            <a:pathLst>
              <a:path h="9474613" w="16230600">
                <a:moveTo>
                  <a:pt x="0" y="0"/>
                </a:moveTo>
                <a:lnTo>
                  <a:pt x="16230600" y="0"/>
                </a:lnTo>
                <a:lnTo>
                  <a:pt x="16230600" y="9474612"/>
                </a:lnTo>
                <a:lnTo>
                  <a:pt x="0" y="9474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33222" y="1661099"/>
            <a:ext cx="6373966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b="true" sz="4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IPO DETAILS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630381">
            <a:off x="-2286763" y="-472501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4114800"/>
                </a:moveTo>
                <a:lnTo>
                  <a:pt x="5863057" y="4114800"/>
                </a:lnTo>
                <a:lnTo>
                  <a:pt x="586305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456141">
            <a:off x="15000050" y="6537424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7" y="0"/>
                </a:moveTo>
                <a:lnTo>
                  <a:pt x="0" y="0"/>
                </a:lnTo>
                <a:lnTo>
                  <a:pt x="0" y="4114800"/>
                </a:lnTo>
                <a:lnTo>
                  <a:pt x="5863057" y="4114800"/>
                </a:lnTo>
                <a:lnTo>
                  <a:pt x="58630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27892" y="1481192"/>
            <a:ext cx="2722762" cy="1400985"/>
          </a:xfrm>
          <a:custGeom>
            <a:avLst/>
            <a:gdLst/>
            <a:ahLst/>
            <a:cxnLst/>
            <a:rect r="r" b="b" t="t" l="l"/>
            <a:pathLst>
              <a:path h="1400985" w="2722762">
                <a:moveTo>
                  <a:pt x="0" y="0"/>
                </a:moveTo>
                <a:lnTo>
                  <a:pt x="2722762" y="0"/>
                </a:lnTo>
                <a:lnTo>
                  <a:pt x="2722762" y="1400985"/>
                </a:lnTo>
                <a:lnTo>
                  <a:pt x="0" y="1400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26586" y="2666357"/>
            <a:ext cx="14501305" cy="626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pected Timeline: 2026</a:t>
            </a:r>
          </a:p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Structure: Offer for Sale (OFS)</a:t>
            </a:r>
          </a:p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Stake Sale: ~4–4.5%</a:t>
            </a:r>
          </a:p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fresh capital issuance</a:t>
            </a:r>
          </a:p>
          <a:p>
            <a:pPr algn="l">
              <a:lnSpc>
                <a:spcPts val="4981"/>
              </a:lnSpc>
            </a:pPr>
          </a:p>
          <a:p>
            <a:pPr algn="l">
              <a:lnSpc>
                <a:spcPts val="4981"/>
              </a:lnSpc>
            </a:pPr>
            <a:r>
              <a:rPr lang="en-US" sz="355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of IPO:</a:t>
            </a:r>
          </a:p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Liquidity for existing shareholders</a:t>
            </a:r>
          </a:p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Enhanced transparency &amp; governance</a:t>
            </a:r>
          </a:p>
          <a:p>
            <a:pPr algn="l" marL="768277" indent="-384139" lvl="1">
              <a:lnSpc>
                <a:spcPts val="4981"/>
              </a:lnSpc>
              <a:buFont typeface="Arial"/>
              <a:buChar char="•"/>
            </a:pPr>
            <a:r>
              <a:rPr lang="en-US" sz="355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Public market valuation discovery</a:t>
            </a:r>
          </a:p>
          <a:p>
            <a:pPr algn="l">
              <a:lnSpc>
                <a:spcPts val="498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1154166" y="7193839"/>
            <a:ext cx="2722762" cy="1400985"/>
          </a:xfrm>
          <a:custGeom>
            <a:avLst/>
            <a:gdLst/>
            <a:ahLst/>
            <a:cxnLst/>
            <a:rect r="r" b="b" t="t" l="l"/>
            <a:pathLst>
              <a:path h="1400985" w="2722762">
                <a:moveTo>
                  <a:pt x="2722763" y="0"/>
                </a:moveTo>
                <a:lnTo>
                  <a:pt x="0" y="0"/>
                </a:lnTo>
                <a:lnTo>
                  <a:pt x="0" y="1400985"/>
                </a:lnTo>
                <a:lnTo>
                  <a:pt x="2722763" y="1400985"/>
                </a:lnTo>
                <a:lnTo>
                  <a:pt x="272276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30381">
            <a:off x="-2286763" y="-472501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4114800"/>
                </a:moveTo>
                <a:lnTo>
                  <a:pt x="5863057" y="4114800"/>
                </a:lnTo>
                <a:lnTo>
                  <a:pt x="586305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56141">
            <a:off x="15000050" y="6537424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7" y="0"/>
                </a:moveTo>
                <a:lnTo>
                  <a:pt x="0" y="0"/>
                </a:lnTo>
                <a:lnTo>
                  <a:pt x="0" y="4114800"/>
                </a:lnTo>
                <a:lnTo>
                  <a:pt x="5863057" y="4114800"/>
                </a:lnTo>
                <a:lnTo>
                  <a:pt x="5863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06194"/>
            <a:ext cx="16230600" cy="9474613"/>
          </a:xfrm>
          <a:custGeom>
            <a:avLst/>
            <a:gdLst/>
            <a:ahLst/>
            <a:cxnLst/>
            <a:rect r="r" b="b" t="t" l="l"/>
            <a:pathLst>
              <a:path h="9474613" w="16230600">
                <a:moveTo>
                  <a:pt x="0" y="0"/>
                </a:moveTo>
                <a:lnTo>
                  <a:pt x="16230600" y="0"/>
                </a:lnTo>
                <a:lnTo>
                  <a:pt x="16230600" y="9474612"/>
                </a:lnTo>
                <a:lnTo>
                  <a:pt x="0" y="9474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91117" y="-663658"/>
            <a:ext cx="6000151" cy="5407544"/>
          </a:xfrm>
          <a:custGeom>
            <a:avLst/>
            <a:gdLst/>
            <a:ahLst/>
            <a:cxnLst/>
            <a:rect r="r" b="b" t="t" l="l"/>
            <a:pathLst>
              <a:path h="5407544" w="6000151">
                <a:moveTo>
                  <a:pt x="0" y="0"/>
                </a:moveTo>
                <a:lnTo>
                  <a:pt x="6000151" y="0"/>
                </a:lnTo>
                <a:lnTo>
                  <a:pt x="6000151" y="5407544"/>
                </a:lnTo>
                <a:lnTo>
                  <a:pt x="0" y="5407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45487" y="1104900"/>
            <a:ext cx="6373966" cy="6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4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6093" y="2909592"/>
            <a:ext cx="11792877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Regulatory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overhang (past SEBI related delays)</a:t>
            </a:r>
          </a:p>
          <a:p>
            <a:pPr algn="ctr">
              <a:lnSpc>
                <a:spcPts val="5319"/>
              </a:lnSpc>
            </a:pPr>
          </a:p>
          <a:p>
            <a:pPr algn="ctr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Revenue dependence on trading volumes</a:t>
            </a:r>
          </a:p>
          <a:p>
            <a:pPr algn="ctr">
              <a:lnSpc>
                <a:spcPts val="5319"/>
              </a:lnSpc>
            </a:pPr>
          </a:p>
          <a:p>
            <a:pPr algn="ctr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Competition from BSE and global exchanges</a:t>
            </a:r>
          </a:p>
          <a:p>
            <a:pPr algn="ctr">
              <a:lnSpc>
                <a:spcPts val="5319"/>
              </a:lnSpc>
            </a:pPr>
          </a:p>
          <a:p>
            <a:pPr algn="ctr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Sensitivity to market cycles &amp; volatility</a:t>
            </a:r>
          </a:p>
          <a:p>
            <a:pPr algn="ctr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32461" y="923925"/>
            <a:ext cx="11068050" cy="9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 (DIFFERENTIATOR)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25263" y="2165810"/>
            <a:ext cx="13710888" cy="8003731"/>
          </a:xfrm>
          <a:custGeom>
            <a:avLst/>
            <a:gdLst/>
            <a:ahLst/>
            <a:cxnLst/>
            <a:rect r="r" b="b" t="t" l="l"/>
            <a:pathLst>
              <a:path h="8003731" w="13710888">
                <a:moveTo>
                  <a:pt x="0" y="0"/>
                </a:moveTo>
                <a:lnTo>
                  <a:pt x="13710888" y="0"/>
                </a:lnTo>
                <a:lnTo>
                  <a:pt x="13710888" y="8003731"/>
                </a:lnTo>
                <a:lnTo>
                  <a:pt x="0" y="800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630381">
            <a:off x="-2286763" y="-472501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4114800"/>
                </a:moveTo>
                <a:lnTo>
                  <a:pt x="5863057" y="4114800"/>
                </a:lnTo>
                <a:lnTo>
                  <a:pt x="586305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456141">
            <a:off x="15000050" y="6537424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7" y="0"/>
                </a:moveTo>
                <a:lnTo>
                  <a:pt x="0" y="0"/>
                </a:lnTo>
                <a:lnTo>
                  <a:pt x="0" y="4114800"/>
                </a:lnTo>
                <a:lnTo>
                  <a:pt x="5863057" y="4114800"/>
                </a:lnTo>
                <a:lnTo>
                  <a:pt x="58630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4252115" y="2442844"/>
            <a:ext cx="10028741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058039" y="2957194"/>
            <a:ext cx="13245336" cy="700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49954" indent="-474977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NSE</a:t>
            </a: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not a typical company</a:t>
            </a:r>
          </a:p>
          <a:p>
            <a:pPr algn="ctr">
              <a:lnSpc>
                <a:spcPts val="6159"/>
              </a:lnSpc>
            </a:pPr>
          </a:p>
          <a:p>
            <a:pPr algn="ctr" marL="949954" indent="-474977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operates core financial infrastructure</a:t>
            </a:r>
          </a:p>
          <a:p>
            <a:pPr algn="ctr">
              <a:lnSpc>
                <a:spcPts val="6159"/>
              </a:lnSpc>
            </a:pPr>
          </a:p>
          <a:p>
            <a:pPr algn="ctr" marL="949954" indent="-474977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Earnings scale with market activity</a:t>
            </a:r>
          </a:p>
          <a:p>
            <a:pPr algn="ctr">
              <a:lnSpc>
                <a:spcPts val="6159"/>
              </a:lnSpc>
            </a:pPr>
          </a:p>
          <a:p>
            <a:pPr algn="ctr" marL="949954" indent="-474977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Acts as a proxy for India’s capital markets growth</a:t>
            </a:r>
          </a:p>
          <a:p>
            <a:pPr algn="ctr">
              <a:lnSpc>
                <a:spcPts val="61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6194"/>
            <a:ext cx="16230600" cy="9474613"/>
          </a:xfrm>
          <a:custGeom>
            <a:avLst/>
            <a:gdLst/>
            <a:ahLst/>
            <a:cxnLst/>
            <a:rect r="r" b="b" t="t" l="l"/>
            <a:pathLst>
              <a:path h="9474613" w="16230600">
                <a:moveTo>
                  <a:pt x="0" y="0"/>
                </a:moveTo>
                <a:lnTo>
                  <a:pt x="16230600" y="0"/>
                </a:lnTo>
                <a:lnTo>
                  <a:pt x="16230600" y="9474612"/>
                </a:lnTo>
                <a:lnTo>
                  <a:pt x="0" y="9474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56141">
            <a:off x="15000050" y="6537424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7" y="0"/>
                </a:moveTo>
                <a:lnTo>
                  <a:pt x="0" y="0"/>
                </a:lnTo>
                <a:lnTo>
                  <a:pt x="0" y="4114800"/>
                </a:lnTo>
                <a:lnTo>
                  <a:pt x="5863057" y="4114800"/>
                </a:lnTo>
                <a:lnTo>
                  <a:pt x="58630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630381">
            <a:off x="-2286763" y="-472501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4114800"/>
                </a:moveTo>
                <a:lnTo>
                  <a:pt x="5863057" y="4114800"/>
                </a:lnTo>
                <a:lnTo>
                  <a:pt x="586305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95814" y="923925"/>
            <a:ext cx="6941344" cy="9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03125" y="2927469"/>
            <a:ext cx="10885245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SUBSCRIBE (Long Term)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fun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damentals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 dominance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profitability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Structural growth tailwinds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DAHFNsDm1qw</dc:identifier>
  <dcterms:modified xsi:type="dcterms:W3CDTF">2011-08-01T06:04:30Z</dcterms:modified>
  <cp:revision>1</cp:revision>
  <dc:title>NSE_IPO_Analysis.pptx</dc:title>
</cp:coreProperties>
</file>